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73152" cy="4114800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D42A"/>
                </a:solidFill>
              </a:rPr>
              <a:t>EVN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EVN-WARP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5D42A"/>
                </a:solidFill>
              </a:rPr>
              <a:t>목표관리 통합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전사 KPI · 전략과제 · 영업 파이프라인 · 고객관리를 하나의 시스템에서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2026년 7월   |   Version 5</a:t>
            </a:r>
          </a:p>
        </p:txBody>
      </p:sp>
      <p:sp>
        <p:nvSpPr>
          <p:cNvPr id="9" name="Oval 8"/>
          <p:cNvSpPr/>
          <p:nvPr/>
        </p:nvSpPr>
        <p:spPr>
          <a:xfrm>
            <a:off x="8503920" y="3017520"/>
            <a:ext cx="4023360" cy="4023360"/>
          </a:xfrm>
          <a:prstGeom prst="ellipse">
            <a:avLst/>
          </a:prstGeom>
          <a:solidFill>
            <a:srgbClr val="2A2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49840" y="548640"/>
            <a:ext cx="2560320" cy="2560320"/>
          </a:xfrm>
          <a:prstGeom prst="ellipse">
            <a:avLst/>
          </a:prstGeom>
          <a:solidFill>
            <a:srgbClr val="2A2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42A"/>
                </a:solidFill>
              </a:rPr>
              <a:t>EVN-WARP 소개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02920" cy="1005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D42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시스템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116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왜 EVN-WARP를 도입했는가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502920" cy="1005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D42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34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시스템 구성 개요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46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4개 페이지 구조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7764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77640"/>
            <a:ext cx="502920" cy="1005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D42A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69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경영 대시보드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80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KPI · 전략과제 · 알림마당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1208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212080"/>
            <a:ext cx="502920" cy="1005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D42A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03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영업 파이프라인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15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4단계 11프로세스 통합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50876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1508760"/>
            <a:ext cx="502920" cy="1005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1783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D42A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전략과제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0116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팀별 목표 설정 및 주간 업데이트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74320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2743200"/>
            <a:ext cx="502920" cy="1005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017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D42A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834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업무일지 &amp; 고객관리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246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활동 기록 및 CRM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97764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3977640"/>
            <a:ext cx="502920" cy="10058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4251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D42A"/>
                </a:solidFill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069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사용 흐름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480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일일/주간 사용 시나리오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01  시스템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42A"/>
                </a:solidFill>
              </a:rPr>
              <a:t>왜 EVN-WARP가 필요한가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194560" cy="14630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산재된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915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엑셀, 카카오톡, 이메일에
흩어진 영업·목표 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645920"/>
            <a:ext cx="2194560" cy="14630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737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가시성 부족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5915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팀 현황과 KPI 달성률을
실시간으로 파악 불가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645920"/>
            <a:ext cx="2194560" cy="14630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737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문제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협업 단절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35915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담당자 교체 시 히스토리
인수인계 어려움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9200"/>
                </a:solidFill>
              </a:rPr>
              <a:t>▼  EVN-WARP로 해결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03320"/>
            <a:ext cx="2194560" cy="1463040"/>
          </a:xfrm>
          <a:prstGeom prst="rect">
            <a:avLst/>
          </a:prstGeom>
          <a:solidFill>
            <a:srgbClr val="F0F9E0"/>
          </a:solidFill>
          <a:ln w="12700">
            <a:solidFill>
              <a:srgbClr val="7A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200"/>
                </a:solidFill>
              </a:rPr>
              <a:t>해결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하나의 플랫폼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1655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영업·전략·KPI·고객을
단일 시스템에서 통합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703320"/>
            <a:ext cx="2194560" cy="1463040"/>
          </a:xfrm>
          <a:prstGeom prst="rect">
            <a:avLst/>
          </a:prstGeom>
          <a:solidFill>
            <a:srgbClr val="F0F9E0"/>
          </a:solidFill>
          <a:ln w="12700">
            <a:solidFill>
              <a:srgbClr val="7A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200"/>
                </a:solidFill>
              </a:rPr>
              <a:t>해결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실시간 현황판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1655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대시보드에서 팀별 달성률
즉시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703320"/>
            <a:ext cx="2194560" cy="1463040"/>
          </a:xfrm>
          <a:prstGeom prst="rect">
            <a:avLst/>
          </a:prstGeom>
          <a:solidFill>
            <a:srgbClr val="F0F9E0"/>
          </a:solidFill>
          <a:ln w="12700">
            <a:solidFill>
              <a:srgbClr val="7A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3794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200"/>
                </a:solidFill>
              </a:rPr>
              <a:t>해결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누적 히스토리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416552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고객·리드·활동 기록이
자동으로 누적 보존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02  시스템 구성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42A"/>
                </a:solidFill>
              </a:rPr>
              <a:t>4개 페이지 · 통합 데이터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46888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468880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5D42A"/>
                </a:solidFill>
              </a:rPr>
              <a:t>Page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경영 대시보드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5059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7744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전사 KPI 달성 현황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5351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8803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전략과제 팀별 상태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5643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38328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알림마당 멘션 피드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82112" y="1554480"/>
            <a:ext cx="246888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82112" y="1554480"/>
            <a:ext cx="2468880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5D42A"/>
                </a:solidFill>
              </a:rPr>
              <a:t>Page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영업 파이프라인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9272" y="245059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37744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4단계 11프로세스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9272" y="295351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8803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리드 수집 → 출고 완료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9272" y="345643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338328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단계별 목표 vs 실적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15584" y="1554480"/>
            <a:ext cx="246888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15584" y="1554480"/>
            <a:ext cx="2468880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5D42A"/>
                </a:solidFill>
              </a:rPr>
              <a:t>Page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4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전략과제 관리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52744" y="245059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8192" y="237744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팀별 전략과제 설정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52744" y="295351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8192" y="28803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주간 업데이트 입력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52744" y="345643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338328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실행 상태 추적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49056" y="1554480"/>
            <a:ext cx="246888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49056" y="1554480"/>
            <a:ext cx="2468880" cy="685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86216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5D42A"/>
                </a:solidFill>
              </a:rPr>
              <a:t>Page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216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업무일지/고객관리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86216" y="245059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4" y="237744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일일 업무 기록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86216" y="295351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1664" y="28803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@멘션 팀 공유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86216" y="3456432"/>
            <a:ext cx="54864" cy="201168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41664" y="338328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CRM 고객 상세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42A"/>
                </a:solidFill>
              </a:rPr>
              <a:t>공유 데이터베이스  ·  고객(Customer)  ·  리드(SalesDeal)  ·  KPI  ·  전략과제  ·  업무활동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03  경영 대시보드 (Page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42A"/>
                </a:solidFill>
              </a:rPr>
              <a:t>경영진이 전사 현황을 한눈에 파악하는 통합 현황판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38328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38328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전사 KPI 달성 현황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월별 목표 vs 실적 바차트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9067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3639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연간 YTD 누적 대비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95935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0507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달성률 색상 표시 (녹/황/적)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82803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7375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영업퍼널 연동 KPI 설정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41648" y="1554480"/>
            <a:ext cx="338328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41648" y="1554480"/>
            <a:ext cx="338328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8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전략과제 현황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26771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팀별 정상/지연/조치필요/완료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309067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313639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주간 단위 상태 추적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8808" y="395935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8" y="400507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전 팀 합계 현황 제공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8808" y="482803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4528" y="487375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주차 네비게이션 (전/후)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6096" y="1554480"/>
            <a:ext cx="338328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26096" y="1554480"/>
            <a:ext cx="338328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63256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알림마당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8976" y="226771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업무일지 @멘션 자동 연동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63256" y="309067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8976" y="313639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@전체 공지 별도 상단 노출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63256" y="395935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8976" y="400507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개인 멘션 피드 실시간 갱신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63256" y="482803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6" y="487375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· 클릭 시 원문 이동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※ 세 박스는 동일 높이로 고정 · 내용 초과 시 개별 스크롤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04  영업 파이프라인 (Page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42A"/>
                </a:solidFill>
              </a:rPr>
              <a:t>STEGO K1 영업 4단계 · 11프로세스 통합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5603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5603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관심·발굴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304288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3957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1-1 잠재고객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62656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540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1-2 관심확인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621024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12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1-3 미팅설정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82112" y="1554480"/>
            <a:ext cx="25603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82112" y="1554480"/>
            <a:ext cx="256032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82880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검토·협의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9272" y="2304288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3957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2-1 견적제출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9272" y="2962656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0540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2-2 조건협의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9272" y="3621024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712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2-3 계약체결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07024" y="1554480"/>
            <a:ext cx="25603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07024" y="1554480"/>
            <a:ext cx="25603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182880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계약·출고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4184" y="2304288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8192" y="23957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3-1 계약완료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44184" y="2962656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8192" y="30540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3-2 출고준비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4184" y="3621024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3712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3-3 출고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31936" y="1554480"/>
            <a:ext cx="256032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31936" y="1554480"/>
            <a:ext cx="256032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41664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4단계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1664" y="182880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사후관리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69096" y="2304288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33104" y="23957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4-1 출고완료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69096" y="2962656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33104" y="30540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4-2 사후관리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0533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42A"/>
                </a:solidFill>
              </a:rPr>
              <a:t>단계 클릭 → 해당 리드 필터  ·  리드 클릭 → 체크리스트 상세  ·  목표 대비 달성률 색상 표시  ·  KPI 연동 판매목표 자동 계산  ·  엑셀 import / export 지원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  전략과제 관리 (Page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42A"/>
                </a:solidFill>
              </a:rPr>
              <a:t>팀별 전략과제 목표 설정 및 주간 실행 상태 추적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02920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029200" cy="5029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과제 계층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76272"/>
            <a:ext cx="4617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76272"/>
            <a:ext cx="109728" cy="822960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2494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전략방향 (A그룹)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96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최상위 목표 방향성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273552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3273552"/>
            <a:ext cx="10972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33467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전략과제 (B그룹)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941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팀별 핵심 과제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4370832"/>
            <a:ext cx="3886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4370832"/>
            <a:ext cx="109728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44439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</a:rPr>
              <a:t>실행과제 (C그룹)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47914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구체적 실행 항목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554480"/>
            <a:ext cx="594360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1554480"/>
            <a:ext cx="5943600" cy="5029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1600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주간 업데이트 워크플로우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2176272"/>
            <a:ext cx="8229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2176272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5D42A"/>
                </a:solidFill>
              </a:rPr>
              <a:t>매주 월요일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267712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전주 업데이트 확인
팀장 대시보드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298094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3163824"/>
            <a:ext cx="8229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3163824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5D42A"/>
                </a:solidFill>
              </a:rPr>
              <a:t>주중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55264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각 팀원 실행과제
진행상태 업데이트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39684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4151376"/>
            <a:ext cx="8229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4151376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5D42A"/>
                </a:solidFill>
              </a:rPr>
              <a:t>매주 금요일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42816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상태 입력 완료
(정상/지연/조치필요)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495604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5138928"/>
            <a:ext cx="8229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5138928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5D42A"/>
                </a:solidFill>
              </a:rPr>
              <a:t>경영진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230368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대시보드에서
전사 현황 파악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06  업무일지 &amp; 고객관리 (Page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42A"/>
                </a:solidFill>
              </a:rPr>
              <a:t>일일 업무 기록 · @멘션 공유 · CRM 고객 상세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5029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업무일지 (Work Activity)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기록 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날짜, 팀, 담당자, 업무유형, 제목, 메모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80944"/>
            <a:ext cx="50292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90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@멘션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107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@팀원명 또는 @전체 입력 → 알림마당 자동 게시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895344"/>
            <a:ext cx="50292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050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업무 유형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251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영업활동 / 사무지원 / 기술지원 / 경영기획 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809744"/>
            <a:ext cx="502920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194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조회/필터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395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날짜·팀·담당자별 필터, 키워드 검색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554480"/>
            <a:ext cx="557784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554480"/>
            <a:ext cx="557784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600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고객관리 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76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고객 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4963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이름, 연락처, 이메일, 성별, 결혼여부, 자녀 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980944"/>
            <a:ext cx="530352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090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차량/화주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4107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차량 유형, 적재화물, 배송지역, 구매시기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895344"/>
            <a:ext cx="530352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0050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리드 연결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3251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고객 1명 → 여러 영업 리드(딜) 연결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809744"/>
            <a:ext cx="530352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9194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서류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2395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단계별 서류 업로드 · 딜 단위 재업로드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07  사용 흐름 (Daily / Weekly)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42A"/>
                </a:solidFill>
              </a:rPr>
              <a:t>누가, 언제, 무엇을 입력하는가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5029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D42A"/>
                </a:solidFill>
              </a:rPr>
              <a:t>일일 루틴 (영업사원 / 팀원)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76272"/>
            <a:ext cx="822960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5D42A"/>
                </a:solidFill>
              </a:rPr>
              <a:t>아침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8600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영업 파이프라인 → 오늘 할일 리드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90672"/>
            <a:ext cx="822960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5D42A"/>
                </a:solidFill>
              </a:rPr>
              <a:t>업무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0040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리드 단계 이동 · 체크리스트 업데이트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005072"/>
            <a:ext cx="822960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0507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5D42A"/>
                </a:solidFill>
              </a:rPr>
              <a:t>저녁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1480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업무일지 작성 → 필요시 @멘션 공유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919472"/>
            <a:ext cx="822960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91947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5D42A"/>
                </a:solidFill>
              </a:rPr>
              <a:t>수시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02920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신규 리드 등록 → 고객 정보 입력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554480"/>
            <a:ext cx="557784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554480"/>
            <a:ext cx="5577840" cy="5029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600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D42A"/>
                </a:solidFill>
              </a:rPr>
              <a:t>주간 루틴 (팀장 / 경영진)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176272"/>
            <a:ext cx="822960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17627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5D42A"/>
                </a:solidFill>
              </a:rPr>
              <a:t>월요일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28600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대시보드 → 전주 전략과제 상태 점검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090672"/>
            <a:ext cx="822960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09067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5D42A"/>
                </a:solidFill>
              </a:rPr>
              <a:t>주중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20040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전략과제 실행 상태 업데이트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005072"/>
            <a:ext cx="822960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00507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5D42A"/>
                </a:solidFill>
              </a:rPr>
              <a:t>금요일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11480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주간 현황 입력 완료 (정상/지연/조치필요)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919472"/>
            <a:ext cx="822960" cy="5943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91947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5D42A"/>
                </a:solidFill>
              </a:rPr>
              <a:t>월말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02920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KPI 실적 입력 → 달성률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73152" cy="4114800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EVN-WARP와 함께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5D42A"/>
                </a:solidFill>
              </a:rPr>
              <a:t>목표를 가시화하고, 실행을 추적하며, 성과를 만들어 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63240"/>
            <a:ext cx="54864" cy="320040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경영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649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전사 KPI와 전략과제 현황을 실시간 파악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063240"/>
            <a:ext cx="54864" cy="320040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0175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영업 파이프라인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3649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리드 발굴부터 출고까지 단계별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54864" cy="320040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전략과제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622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팀별 목표 설정과 주간 실행 상태 추적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160520"/>
            <a:ext cx="54864" cy="320040"/>
          </a:xfrm>
          <a:prstGeom prst="rect">
            <a:avLst/>
          </a:prstGeom>
          <a:solidFill>
            <a:srgbClr val="C5D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114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고객관리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4622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고객 히스토리와 영업 활동 누적 보존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EVN Solution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